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003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86AB">
              <a:alpha val="20000"/>
            </a:srgbClr>
          </a:solidFill>
          <a:ln cap="flat" cmpd="sng" w="12700">
            <a:solidFill>
              <a:srgbClr val="42036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44BBA4">
              <a:alpha val="14901"/>
            </a:srgbClr>
          </a:solidFill>
          <a:ln cap="flat" cmpd="sng" w="12700">
            <a:solidFill>
              <a:srgbClr val="44BBA4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49140" y="708628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POSTECH · Tech Challenge · Fase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Coração das Empresas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1945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3227275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"O que faz um cliente se sentir satisfeito — e o que o faz nunca mais voltar?"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Dataset: Olist Brazilian E-Commerce  |  ~100 mil pedidos  |  2016–2018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003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E84855">
              <a:alpha val="12156"/>
            </a:srgbClr>
          </a:solidFill>
          <a:ln cap="flat" cmpd="sng" w="12700">
            <a:solidFill>
              <a:srgbClr val="E84855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10" y="341640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clientes importam?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"Sem cliente, o produto, logística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 tecnologia não têm propósito."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377440"/>
            <a:ext cx="2651760" cy="23774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2377440"/>
            <a:ext cx="2651760" cy="73152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251460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5x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347472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caro adquirir um novo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que reter um existente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355848" y="2377440"/>
            <a:ext cx="2651760" cy="23774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44B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55848" y="2377440"/>
            <a:ext cx="2651760" cy="73152"/>
          </a:xfrm>
          <a:prstGeom prst="rect">
            <a:avLst/>
          </a:prstGeom>
          <a:solidFill>
            <a:srgbClr val="44BBA4"/>
          </a:solidFill>
          <a:ln cap="flat" cmpd="sng" w="12700">
            <a:solidFill>
              <a:srgbClr val="44B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355848" y="251460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BBA4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4BBA4"/>
                </a:solidFill>
                <a:latin typeface="Calibri"/>
                <a:ea typeface="Calibri"/>
                <a:cs typeface="Calibri"/>
                <a:sym typeface="Calibri"/>
              </a:rPr>
              <a:t>79%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55848" y="347472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clientes Olist deram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4 ou 5 — base sólida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54496" y="2377440"/>
            <a:ext cx="2651760" cy="23774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F6AE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254496" y="2377440"/>
            <a:ext cx="2651760" cy="73152"/>
          </a:xfrm>
          <a:prstGeom prst="rect">
            <a:avLst/>
          </a:prstGeom>
          <a:solidFill>
            <a:srgbClr val="F6AE2D"/>
          </a:solidFill>
          <a:ln cap="flat" cmpd="sng" w="12700">
            <a:solidFill>
              <a:srgbClr val="F6A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54496" y="251460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AE2D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6AE2D"/>
                </a:solidFill>
                <a:latin typeface="Calibri"/>
                <a:ea typeface="Calibri"/>
                <a:cs typeface="Calibri"/>
                <a:sym typeface="Calibri"/>
              </a:rPr>
              <a:t>12,9%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54496" y="347472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scores 1–2: risco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churn e boca-a-boca negativo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457195" y="2743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KPI 1 — Como estão os clientes hoje?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195" y="6583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Distribuição de Satisfação — Review Score (1 a 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38" y="948700"/>
            <a:ext cx="7966524" cy="32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59,2% dos clientes deram nota 5 — mas 12,9% saíram insatisfeitos. Cada ponto abaixo de 3 representa risco real de perda permanente.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57195" y="2743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KPI 2 — O tempo de entrega define a satisfação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57195" y="6583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Lead Time Médio por Nível de Satisfação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875" y="1019550"/>
            <a:ext cx="6144249" cy="32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6A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Score 1 → 20,8 dias | Score 5 → 10,2 dias. Uma diferença de 10 dias separa o cliente fiel do cliente perdido.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457195" y="2671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KPI 3 — O atraso destrói a experiência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57195" y="6511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Impacto do Atraso no Score Médio de Satisfação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561" y="948688"/>
            <a:ext cx="3896674" cy="32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5055527" y="1005840"/>
            <a:ext cx="3291900" cy="14172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5055527" y="1097280"/>
            <a:ext cx="329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−47%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055527" y="1874520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queda no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quando há atraso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055527" y="2606040"/>
            <a:ext cx="3291900" cy="1417200"/>
          </a:xfrm>
          <a:prstGeom prst="rect">
            <a:avLst/>
          </a:prstGeom>
          <a:solidFill>
            <a:srgbClr val="E8F8F5"/>
          </a:solidFill>
          <a:ln cap="flat" cmpd="sng" w="12700">
            <a:solidFill>
              <a:srgbClr val="44B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5055527" y="2697480"/>
            <a:ext cx="329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BBA4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44BBA4"/>
                </a:solidFill>
                <a:latin typeface="Calibri"/>
                <a:ea typeface="Calibri"/>
                <a:cs typeface="Calibri"/>
                <a:sym typeface="Calibri"/>
              </a:rPr>
              <a:t>4,29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055527" y="3474720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score médio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prazo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 promessa de entrega é um contrato emocional com o cliente. Quebrá-la custa quase metade da satisfação conquistada.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457195" y="2455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KPI 4 — Onde o problema é mais grave?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57195" y="6295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Lead Time vs. Satisfação por Estado (UF) — tamanho = volume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012" y="925825"/>
            <a:ext cx="6381975" cy="32918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SP lidera: menor lead time + maior satisfação. AM, AL, MA e PA são zonas críticas: entrega lenta + score baixo. RJ é atenção: alto volume com desempenho abaixo da média.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457195" y="2743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KPI 5 — O que realmente causa insatisfação?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57195" y="6583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Modelo Preditivo (Random Forest) — Importância das Variáveis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274320" y="4206240"/>
            <a:ext cx="8595360" cy="731520"/>
          </a:xfrm>
          <a:prstGeom prst="rect">
            <a:avLst/>
          </a:prstGeom>
          <a:solidFill>
            <a:srgbClr val="E8F8F5"/>
          </a:solidFill>
          <a:ln cap="flat" cmpd="sng" w="12700">
            <a:solidFill>
              <a:srgbClr val="44B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411480" y="4261104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Frete (24,9%) + Atraso (24,7%) + Preço (24,3%) = 73,9% do poder preditivo. Atacar esses três frentes resolve a maior parte da insatisfação.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750" y="1015118"/>
            <a:ext cx="6040501" cy="298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548632" y="301745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 que fazer agora — 5 Recomendações Acionáveis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457200" y="868680"/>
            <a:ext cx="502920" cy="713232"/>
          </a:xfrm>
          <a:prstGeom prst="rect">
            <a:avLst/>
          </a:prstGeom>
          <a:solidFill>
            <a:srgbClr val="1F00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457200" y="103327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1051560" y="9326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Reduzir frete no Norte e Nordeste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1051560" y="123444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Renegociar contratos logísticos nas regiões com maior gap de satisfação.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457200" y="1673352"/>
            <a:ext cx="82296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457200" y="1673352"/>
            <a:ext cx="502920" cy="713232"/>
          </a:xfrm>
          <a:prstGeom prst="rect">
            <a:avLst/>
          </a:prstGeom>
          <a:solidFill>
            <a:srgbClr val="1F00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457200" y="183794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1051560" y="173736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KPI semanal de % atrasos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1051560" y="2039112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Monitorar e acionar alertas operacionais antes que o cliente perceba o problema.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457200" y="2478024"/>
            <a:ext cx="502920" cy="713232"/>
          </a:xfrm>
          <a:prstGeom prst="rect">
            <a:avLst/>
          </a:prstGeom>
          <a:solidFill>
            <a:srgbClr val="1F00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457200" y="2642616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051560" y="2542032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Modelo preditivo em produção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051560" y="284378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Pontuar pedidos em tempo real e acionar suporte proativo para os de maior risco.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57200" y="3282696"/>
            <a:ext cx="82296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457200" y="3282696"/>
            <a:ext cx="502920" cy="713232"/>
          </a:xfrm>
          <a:prstGeom prst="rect">
            <a:avLst/>
          </a:prstGeom>
          <a:solidFill>
            <a:srgbClr val="1F00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457200" y="344728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1051560" y="334670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Programa de sellers top performers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1051560" y="3648456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Reconhecer e dar visibilidade a vendedores com alto NPS e baixo lead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57200" y="4087368"/>
            <a:ext cx="82296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457200" y="4087368"/>
            <a:ext cx="502920" cy="713232"/>
          </a:xfrm>
          <a:prstGeom prst="rect">
            <a:avLst/>
          </a:prstGeom>
          <a:solidFill>
            <a:srgbClr val="1F00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457200" y="425196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051560" y="4151376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Investir em logística regional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1051560" y="445312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Parcerias de última milha em AM, AL, MA e PA — maior ROI potencial em satisfação.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003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86AB">
              <a:alpha val="14901"/>
            </a:srgbClr>
          </a:solidFill>
          <a:ln cap="flat" cmpd="sng" w="12700">
            <a:solidFill>
              <a:srgbClr val="2E86A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44BBA4">
              <a:alpha val="14901"/>
            </a:srgbClr>
          </a:solidFill>
          <a:ln cap="flat" cmpd="sng" w="12700">
            <a:solidFill>
              <a:srgbClr val="44BBA4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equação é simples.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Frete justo + Entrega no prazo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BBA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4BBA4"/>
                </a:solidFill>
                <a:latin typeface="Calibri"/>
                <a:ea typeface="Calibri"/>
                <a:cs typeface="Calibri"/>
                <a:sym typeface="Calibri"/>
              </a:rPr>
              <a:t>= Cliente que volta, indica e perdoa.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POSTECH · Tech Challenge Fase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Dataset: Olist Brazilian E-Commerce (2016–2018)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